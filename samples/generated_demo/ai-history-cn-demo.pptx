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31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43D"/>
                </a:solidFill>
                <a:latin typeface="Microsoft YaHei"/>
              </a:rPr>
              <a:t>?????????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65836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5F6878"/>
                </a:solidFill>
                <a:latin typeface="Microsoft YaHei"/>
              </a:rPr>
              <a:t>???????????</a:t>
            </a:r>
          </a:p>
          <a:p>
            <a:r>
              <a:rPr sz="1600">
                <a:solidFill>
                  <a:srgbClr val="5F6878"/>
                </a:solidFill>
                <a:latin typeface="Microsoft YaHei"/>
              </a:rPr>
              <a:t>???????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554480"/>
            <a:ext cx="3383280" cy="3200400"/>
          </a:xfrm>
          <a:prstGeom prst="roundRect">
            <a:avLst/>
          </a:prstGeom>
          <a:solidFill>
            <a:srgbClr val="E3EBF5"/>
          </a:solidFill>
          <a:ln>
            <a:solidFill>
              <a:srgbClr val="315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920240"/>
            <a:ext cx="27432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315D91"/>
                </a:solidFill>
                <a:latin typeface="Microsoft YaHei"/>
              </a:rPr>
              <a:t>1950</a:t>
            </a:r>
          </a:p>
          <a:p>
            <a:pPr algn="ctr"/>
            <a:r>
              <a:rPr sz="1400" b="0">
                <a:solidFill>
                  <a:srgbClr val="16243D"/>
                </a:solidFill>
                <a:latin typeface="Microsoft YaHei"/>
              </a:rPr>
              <a:t>????</a:t>
            </a:r>
          </a:p>
          <a:p>
            <a:pPr algn="ctr"/>
            <a:r>
              <a:rPr sz="1800" b="1">
                <a:solidFill>
                  <a:srgbClr val="315D91"/>
                </a:solidFill>
                <a:latin typeface="Microsoft YaHei"/>
              </a:rPr>
              <a:t>1956</a:t>
            </a:r>
          </a:p>
          <a:p>
            <a:pPr algn="ctr"/>
            <a:r>
              <a:rPr sz="1400" b="0">
                <a:solidFill>
                  <a:srgbClr val="16243D"/>
                </a:solidFill>
                <a:latin typeface="Microsoft YaHei"/>
              </a:rPr>
              <a:t>??????</a:t>
            </a:r>
          </a:p>
          <a:p>
            <a:pPr algn="ctr"/>
            <a:r>
              <a:rPr sz="1800" b="1">
                <a:solidFill>
                  <a:srgbClr val="315D91"/>
                </a:solidFill>
                <a:latin typeface="Microsoft YaHei"/>
              </a:rPr>
              <a:t>2020s</a:t>
            </a:r>
          </a:p>
          <a:p>
            <a:pPr algn="ctr"/>
            <a:r>
              <a:rPr sz="1400" b="0">
                <a:solidFill>
                  <a:srgbClr val="16243D"/>
                </a:solidFill>
                <a:latin typeface="Microsoft YaHei"/>
              </a:rPr>
              <a:t>?????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31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43D"/>
                </a:solidFill>
                <a:latin typeface="Microsoft YaHei"/>
              </a:rPr>
              <a:t>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42D3B"/>
                </a:solidFill>
                <a:latin typeface="Microsoft YaHei"/>
              </a:rPr>
              <a:t>??????????????????????????????????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42D3B"/>
                </a:solidFill>
                <a:latin typeface="Microsoft YaHei"/>
              </a:rPr>
              <a:t>??????????????????????????????? AI?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42D3B"/>
                </a:solidFill>
                <a:latin typeface="Microsoft YaHei"/>
              </a:rPr>
              <a:t>AI ????????????????????????????????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31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43D"/>
                </a:solidFill>
                <a:latin typeface="Microsoft YaHei"/>
              </a:rPr>
              <a:t>????1950s-1970s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42D3B"/>
                </a:solidFill>
                <a:latin typeface="Microsoft YaHei"/>
              </a:rPr>
              <a:t>1950 ??????????????????????????????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42D3B"/>
                </a:solidFill>
                <a:latin typeface="Microsoft YaHei"/>
              </a:rPr>
              <a:t>1956 ????????????Artificial Intelligence??????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42D3B"/>
                </a:solidFill>
                <a:latin typeface="Microsoft YaHei"/>
              </a:rPr>
              <a:t>?????????????????????????????????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31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43D"/>
                </a:solidFill>
                <a:latin typeface="Microsoft YaHei"/>
              </a:rPr>
              <a:t>???????????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42D3B"/>
                </a:solidFill>
                <a:latin typeface="Microsoft YaHei"/>
              </a:rPr>
              <a:t>?????????????????????????????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42D3B"/>
                </a:solidFill>
                <a:latin typeface="Microsoft YaHei"/>
              </a:rPr>
              <a:t>????????????????????????????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42D3B"/>
                </a:solidFill>
                <a:latin typeface="Microsoft YaHei"/>
              </a:rPr>
              <a:t>? 1970 ?????????????????AI ????????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31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43D"/>
                </a:solidFill>
                <a:latin typeface="Microsoft YaHei"/>
              </a:rPr>
              <a:t>???????1980s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42D3B"/>
                </a:solidFill>
                <a:latin typeface="Microsoft YaHei"/>
              </a:rPr>
              <a:t>??????????????????????????????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42D3B"/>
                </a:solidFill>
                <a:latin typeface="Microsoft YaHei"/>
              </a:rPr>
              <a:t>???????????????????????????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42D3B"/>
                </a:solidFill>
                <a:latin typeface="Microsoft YaHei"/>
              </a:rPr>
              <a:t>????????????????????????????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31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43D"/>
                </a:solidFill>
                <a:latin typeface="Microsoft YaHei"/>
              </a:rPr>
              <a:t>?????????????1990s-2000s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42D3B"/>
                </a:solidFill>
                <a:latin typeface="Microsoft YaHei"/>
              </a:rPr>
              <a:t>????????AI ??????????????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42D3B"/>
                </a:solidFill>
                <a:latin typeface="Microsoft YaHei"/>
              </a:rPr>
              <a:t>???????????SVM??????????????????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42D3B"/>
                </a:solidFill>
                <a:latin typeface="Microsoft YaHei"/>
              </a:rPr>
              <a:t>?????????????????????????????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31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43D"/>
                </a:solidFill>
                <a:latin typeface="Microsoft YaHei"/>
              </a:rPr>
              <a:t>???????2010s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42D3B"/>
                </a:solidFill>
                <a:latin typeface="Microsoft YaHei"/>
              </a:rPr>
              <a:t>GPU??????????????????????????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42D3B"/>
                </a:solidFill>
                <a:latin typeface="Microsoft YaHei"/>
              </a:rPr>
              <a:t>2012 ? AlexNet ???????????????????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42D3B"/>
                </a:solidFill>
                <a:latin typeface="Microsoft YaHei"/>
              </a:rPr>
              <a:t>??????????????????????????????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31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43D"/>
                </a:solidFill>
                <a:latin typeface="Microsoft YaHei"/>
              </a:rPr>
              <a:t>??????? AI?2020s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42D3B"/>
                </a:solidFill>
                <a:latin typeface="Microsoft YaHei"/>
              </a:rPr>
              <a:t>Transformer ??????????????????????????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42D3B"/>
                </a:solidFill>
                <a:latin typeface="Microsoft YaHei"/>
              </a:rPr>
              <a:t>ChatGPT?GPT-4 ???????? AI ??????????????????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42D3B"/>
                </a:solidFill>
                <a:latin typeface="Microsoft YaHei"/>
              </a:rPr>
              <a:t>AI ??????????????????????????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31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43D"/>
                </a:solidFill>
                <a:latin typeface="Microsoft YaHei"/>
              </a:rPr>
              <a:t>????????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42D3B"/>
                </a:solidFill>
                <a:latin typeface="Microsoft YaHei"/>
              </a:rPr>
              <a:t>????????????????????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42D3B"/>
                </a:solidFill>
                <a:latin typeface="Microsoft YaHei"/>
              </a:rPr>
              <a:t>??????????????????????????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42D3B"/>
                </a:solidFill>
                <a:latin typeface="Microsoft YaHei"/>
              </a:rPr>
              <a:t>???????????????????????????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42D3B"/>
                </a:solidFill>
                <a:latin typeface="Microsoft YaHei"/>
              </a:rPr>
              <a:t>2012 AlexNet?2017 Transformer?2022 ChatGPT????????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31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43D"/>
                </a:solidFill>
                <a:latin typeface="Microsoft YaHei"/>
              </a:rPr>
              <a:t>?????????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42D3B"/>
                </a:solidFill>
                <a:latin typeface="Microsoft YaHei"/>
              </a:rPr>
              <a:t>???????????????????????????????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42D3B"/>
                </a:solidFill>
                <a:latin typeface="Microsoft YaHei"/>
              </a:rPr>
              <a:t>???????????????????? AI ??????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42D3B"/>
                </a:solidFill>
                <a:latin typeface="Microsoft YaHei"/>
              </a:rPr>
              <a:t>???AI ????????????????????????????????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